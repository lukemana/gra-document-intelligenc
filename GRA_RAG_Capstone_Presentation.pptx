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D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828800"/>
            <a:ext cx="10360152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000" b="1">
                <a:solidFill>
                  <a:srgbClr val="FFFFFF"/>
                </a:solidFill>
              </a:defRPr>
            </a:pPr>
            <a:r>
              <a:t>Design and Implementation of an Intelligent RAG Chatbot for Ghana Revenue Authority Compliance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4114800"/>
            <a:ext cx="10360152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C8D2E6"/>
                </a:solidFill>
              </a:defRPr>
            </a:pPr>
            <a:r>
              <a:t>Technical Stack: LangChain | FAISS | Hugging Face | Groq (Llama 3.1) | Streamlit</a:t>
            </a:r>
            <a:br/>
            <a:r>
              <a:t>Presenter: Lukeman Abubakar</a:t>
            </a:r>
            <a:br/>
            <a:r>
              <a:t>Track: Advanced ML &amp; AI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4552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0B1D3A"/>
                </a:solidFill>
                <a:latin typeface="Arial"/>
              </a:defRPr>
            </a:pPr>
            <a:r>
              <a:t>The Problem Statement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645920"/>
            <a:ext cx="10817352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400"/>
              </a:spcAft>
              <a:defRPr sz="2000">
                <a:solidFill>
                  <a:srgbClr val="212529"/>
                </a:solidFill>
                <a:latin typeface="Arial"/>
              </a:defRPr>
            </a:pPr>
            <a:r>
              <a:t>• Dense &amp; Long: Official texts like GRA tax guides, VAT rules, and small business obligations span dozens of dense pages.</a:t>
            </a:r>
          </a:p>
          <a:p>
            <a:pPr>
              <a:spcAft>
                <a:spcPts val="2400"/>
              </a:spcAft>
              <a:defRPr sz="2000">
                <a:solidFill>
                  <a:srgbClr val="212529"/>
                </a:solidFill>
                <a:latin typeface="Arial"/>
              </a:defRPr>
            </a:pPr>
            <a:r>
              <a:t>• Impractical to Read: For the average taxpayer or business owner, finding specific rules inside an unstructured PDF is highly impractical.</a:t>
            </a:r>
          </a:p>
          <a:p>
            <a:pPr>
              <a:spcAft>
                <a:spcPts val="2400"/>
              </a:spcAft>
              <a:defRPr sz="2000">
                <a:solidFill>
                  <a:srgbClr val="212529"/>
                </a:solidFill>
                <a:latin typeface="Arial"/>
              </a:defRPr>
            </a:pPr>
            <a:r>
              <a:t>• The LLM Dilemma: Standard AI models lack access to local Ghanaian regulations and confidently fabricate or hallucinate answers, creating legal risks.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4552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0B1D3A"/>
                </a:solidFill>
                <a:latin typeface="Arial"/>
              </a:defRPr>
            </a:pPr>
            <a:r>
              <a:t>The Solution: Retrieval-Augmented Generation (RAG)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645920"/>
            <a:ext cx="10817352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400"/>
              </a:spcAft>
              <a:defRPr sz="2000">
                <a:solidFill>
                  <a:srgbClr val="212529"/>
                </a:solidFill>
                <a:latin typeface="Arial"/>
              </a:defRPr>
            </a:pPr>
            <a:r>
              <a:t>• Eliminating Hallucinations: Instead of relying on an LLM's general training, RAG limits the model's pool of facts strictly to a verified document corpus.</a:t>
            </a:r>
          </a:p>
          <a:p>
            <a:pPr>
              <a:spcAft>
                <a:spcPts val="2400"/>
              </a:spcAft>
              <a:defRPr sz="2000">
                <a:solidFill>
                  <a:srgbClr val="212529"/>
                </a:solidFill>
                <a:latin typeface="Arial"/>
              </a:defRPr>
            </a:pPr>
            <a:r>
              <a:t>• How It Works: The system searches the GRA documents first, pulls out relevant text snippets, and forces the AI to answer using ONLY that context.</a:t>
            </a:r>
          </a:p>
          <a:p>
            <a:pPr>
              <a:spcAft>
                <a:spcPts val="2400"/>
              </a:spcAft>
              <a:defRPr sz="2000">
                <a:solidFill>
                  <a:srgbClr val="212529"/>
                </a:solidFill>
                <a:latin typeface="Arial"/>
              </a:defRPr>
            </a:pPr>
            <a:r>
              <a:t>• Trust &amp; Verification: The system provides explicit source citations alongside answers, allowing users to verify facts themselves.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4552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0B1D3A"/>
                </a:solidFill>
                <a:latin typeface="Arial"/>
              </a:defRPr>
            </a:pPr>
            <a:r>
              <a:t>System Architecture (Stage 1): Ingestion &amp; Indexing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645920"/>
            <a:ext cx="10817352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400"/>
              </a:spcAft>
              <a:defRPr sz="2000">
                <a:solidFill>
                  <a:srgbClr val="212529"/>
                </a:solidFill>
                <a:latin typeface="Arial"/>
              </a:defRPr>
            </a:pPr>
            <a:r>
              <a:t>• Document Loading: Programmatically extracted raw text from official GRA compliance PDFs using LangChain loaders.</a:t>
            </a:r>
          </a:p>
          <a:p>
            <a:pPr>
              <a:spcAft>
                <a:spcPts val="2400"/>
              </a:spcAft>
              <a:defRPr sz="2000">
                <a:solidFill>
                  <a:srgbClr val="212529"/>
                </a:solidFill>
                <a:latin typeface="Arial"/>
              </a:defRPr>
            </a:pPr>
            <a:r>
              <a:t>• Semantic Chunking: Split long files into smaller text blocks of 500 to 800 characters with text overlap to ensure no tax clause was cut in half mid-sentence.</a:t>
            </a:r>
          </a:p>
          <a:p>
            <a:pPr>
              <a:spcAft>
                <a:spcPts val="2400"/>
              </a:spcAft>
              <a:defRPr sz="2000">
                <a:solidFill>
                  <a:srgbClr val="212529"/>
                </a:solidFill>
                <a:latin typeface="Arial"/>
              </a:defRPr>
            </a:pPr>
            <a:r>
              <a:t>• Vector Embeddings: Converted text chunks into dense vectors using Hugging Face's all-MiniLM-L6-v2 model.</a:t>
            </a:r>
          </a:p>
          <a:p>
            <a:pPr>
              <a:spcAft>
                <a:spcPts val="2400"/>
              </a:spcAft>
              <a:defRPr sz="2000">
                <a:solidFill>
                  <a:srgbClr val="212529"/>
                </a:solidFill>
                <a:latin typeface="Arial"/>
              </a:defRPr>
            </a:pPr>
            <a:r>
              <a:t>• Local Index Storage: Indexed and stored vectors locally on disk using a highly efficient FAISS vector database.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4552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0B1D3A"/>
                </a:solidFill>
                <a:latin typeface="Arial"/>
              </a:defRPr>
            </a:pPr>
            <a:r>
              <a:t>System Architecture (Stage 2): Retrieval &amp; Chat Interface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645920"/>
            <a:ext cx="10817352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400"/>
              </a:spcAft>
              <a:defRPr sz="2000">
                <a:solidFill>
                  <a:srgbClr val="212529"/>
                </a:solidFill>
                <a:latin typeface="Arial"/>
              </a:defRPr>
            </a:pPr>
            <a:r>
              <a:t>• User Query Processing: The user enters a question in the Streamlit web interface; the question is immediately transformed into a vector.</a:t>
            </a:r>
          </a:p>
          <a:p>
            <a:pPr>
              <a:spcAft>
                <a:spcPts val="2400"/>
              </a:spcAft>
              <a:defRPr sz="2000">
                <a:solidFill>
                  <a:srgbClr val="212529"/>
                </a:solidFill>
                <a:latin typeface="Arial"/>
              </a:defRPr>
            </a:pPr>
            <a:r>
              <a:t>• Semantic Search: FAISS executes a cosine-similarity calculation to instantly pull the top k=3 most relevant tax chunks.</a:t>
            </a:r>
          </a:p>
          <a:p>
            <a:pPr>
              <a:spcAft>
                <a:spcPts val="2400"/>
              </a:spcAft>
              <a:defRPr sz="2000">
                <a:solidFill>
                  <a:srgbClr val="212529"/>
                </a:solidFill>
                <a:latin typeface="Arial"/>
              </a:defRPr>
            </a:pPr>
            <a:r>
              <a:t>• Groq Cloud Inference: Sends the text chunks and the user's question to a high-speed llama-3.1-8b-instant model on Groq.</a:t>
            </a:r>
          </a:p>
          <a:p>
            <a:pPr>
              <a:spcAft>
                <a:spcPts val="2400"/>
              </a:spcAft>
              <a:defRPr sz="2000">
                <a:solidFill>
                  <a:srgbClr val="212529"/>
                </a:solidFill>
                <a:latin typeface="Arial"/>
              </a:defRPr>
            </a:pPr>
            <a:r>
              <a:t>• Response Generation: The UI presents a natural language answer grounded completely in the document context.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4552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0B1D3A"/>
                </a:solidFill>
                <a:latin typeface="Arial"/>
              </a:defRPr>
            </a:pPr>
            <a:r>
              <a:t>Prompt Engineering &amp; Guardrails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645920"/>
            <a:ext cx="10817352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400"/>
              </a:spcAft>
              <a:defRPr sz="2000">
                <a:solidFill>
                  <a:srgbClr val="212529"/>
                </a:solidFill>
                <a:latin typeface="Arial"/>
              </a:defRPr>
            </a:pPr>
            <a:r>
              <a:t>• Strict Context Constraint: System prompt commands the model to use ONLY the provided text.</a:t>
            </a:r>
          </a:p>
          <a:p>
            <a:pPr>
              <a:spcAft>
                <a:spcPts val="2400"/>
              </a:spcAft>
              <a:defRPr sz="2000">
                <a:solidFill>
                  <a:srgbClr val="212529"/>
                </a:solidFill>
                <a:latin typeface="Arial"/>
              </a:defRPr>
            </a:pPr>
            <a:r>
              <a:t>• Out-of-Scope Rule: The AI is strictly ordered to decline general knowledge or unrelated questions.</a:t>
            </a:r>
          </a:p>
          <a:p>
            <a:pPr>
              <a:spcAft>
                <a:spcPts val="2400"/>
              </a:spcAft>
              <a:defRPr sz="2000">
                <a:solidFill>
                  <a:srgbClr val="212529"/>
                </a:solidFill>
                <a:latin typeface="Arial"/>
              </a:defRPr>
            </a:pPr>
            <a:r>
              <a:t>• Mandated Fallback Text: If information is missing from the corpus, the model must output exactly: 'I could not find an answer to this question in the documents. You may want to consult the source document directly...'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4552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0B1D3A"/>
                </a:solidFill>
                <a:latin typeface="Arial"/>
              </a:defRPr>
            </a:pPr>
            <a:r>
              <a:t>Software Engineering Best Practices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645920"/>
            <a:ext cx="10817352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400"/>
              </a:spcAft>
              <a:defRPr sz="2000">
                <a:solidFill>
                  <a:srgbClr val="212529"/>
                </a:solidFill>
                <a:latin typeface="Arial"/>
              </a:defRPr>
            </a:pPr>
            <a:r>
              <a:t>• Credential Isolation: The Groq API authentication key is completely removed from the codebase and managed via a secure local .env file.</a:t>
            </a:r>
          </a:p>
          <a:p>
            <a:pPr>
              <a:spcAft>
                <a:spcPts val="2400"/>
              </a:spcAft>
              <a:defRPr sz="2000">
                <a:solidFill>
                  <a:srgbClr val="212529"/>
                </a:solidFill>
                <a:latin typeface="Arial"/>
              </a:defRPr>
            </a:pPr>
            <a:r>
              <a:t>• Leaking Prevention: Formulated a rigorous .gitignore file to ensure virtual environments (.venv/) and secret files are completely hidden from public repositories.</a:t>
            </a:r>
          </a:p>
          <a:p>
            <a:pPr>
              <a:spcAft>
                <a:spcPts val="2400"/>
              </a:spcAft>
              <a:defRPr sz="2000">
                <a:solidFill>
                  <a:srgbClr val="212529"/>
                </a:solidFill>
                <a:latin typeface="Arial"/>
              </a:defRPr>
            </a:pPr>
            <a:r>
              <a:t>• Reproducibility: Used 'pip freeze &gt; requirements.txt' to capture the entire system dependency tree for easy deployment and evaluation by grading instructors.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4552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0B1D3A"/>
                </a:solidFill>
                <a:latin typeface="Arial"/>
              </a:defRPr>
            </a:pPr>
            <a:r>
              <a:t>System Evaluation &amp; 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645920"/>
            <a:ext cx="10817352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400"/>
              </a:spcAft>
              <a:defRPr sz="2000">
                <a:solidFill>
                  <a:srgbClr val="212529"/>
                </a:solidFill>
                <a:latin typeface="Arial"/>
              </a:defRPr>
            </a:pPr>
            <a:r>
              <a:t>• Direct Fact Accuracy: Flawlessly handled specific lookups (e.g., late filing penalties, VAT registration thresholds) by isolating the exact matching text chunks.</a:t>
            </a:r>
          </a:p>
          <a:p>
            <a:pPr>
              <a:spcAft>
                <a:spcPts val="2400"/>
              </a:spcAft>
              <a:defRPr sz="2000">
                <a:solidFill>
                  <a:srgbClr val="212529"/>
                </a:solidFill>
                <a:latin typeface="Arial"/>
              </a:defRPr>
            </a:pPr>
            <a:r>
              <a:t>• Information Synthesis: Successfully combined separate text chunks to answer complex queries (e.g., tracking simultaneous late filing fees and accumulation of interest).</a:t>
            </a:r>
          </a:p>
          <a:p>
            <a:pPr>
              <a:spcAft>
                <a:spcPts val="2400"/>
              </a:spcAft>
              <a:defRPr sz="2000">
                <a:solidFill>
                  <a:srgbClr val="212529"/>
                </a:solidFill>
                <a:latin typeface="Arial"/>
              </a:defRPr>
            </a:pPr>
            <a:r>
              <a:t>• Guardrail Performance: 100% success rate intercepting irrelevant inputs (e.g., general geography, recipes) and triggering the mandatory fallback message.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4552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0B1D3A"/>
                </a:solidFill>
                <a:latin typeface="Arial"/>
              </a:defRPr>
            </a:pPr>
            <a:r>
              <a:t>Operational Failure Modes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645920"/>
            <a:ext cx="10817352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400"/>
              </a:spcAft>
              <a:defRPr sz="2000">
                <a:solidFill>
                  <a:srgbClr val="212529"/>
                </a:solidFill>
                <a:latin typeface="Arial"/>
              </a:defRPr>
            </a:pPr>
            <a:r>
              <a:t>• Context Splitting: Fixed-character chunking can split a complex clause across borders, separating a core tax penalty from its legal exemptions.</a:t>
            </a:r>
          </a:p>
          <a:p>
            <a:pPr>
              <a:spcAft>
                <a:spcPts val="2400"/>
              </a:spcAft>
              <a:defRPr sz="2000">
                <a:solidFill>
                  <a:srgbClr val="212529"/>
                </a:solidFill>
                <a:latin typeface="Arial"/>
              </a:defRPr>
            </a:pPr>
            <a:r>
              <a:t>• Free Tier API Rate Limits: Rapid testing of complex queries occasionally triggers HTTP 429 exceptions on free Hugging Face or Groq endpoints.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4552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0B1D3A"/>
                </a:solidFill>
                <a:latin typeface="Arial"/>
              </a:defRPr>
            </a:pPr>
            <a:r>
              <a:t>Permanent System Limitations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645920"/>
            <a:ext cx="10817352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400"/>
              </a:spcAft>
              <a:defRPr sz="2000">
                <a:solidFill>
                  <a:srgbClr val="212529"/>
                </a:solidFill>
                <a:latin typeface="Arial"/>
              </a:defRPr>
            </a:pPr>
            <a:r>
              <a:t>• Document Currency: The chatbot is structurally dependent on static files; updates to GRA tax policies require a manual database rebuild.</a:t>
            </a:r>
          </a:p>
          <a:p>
            <a:pPr>
              <a:spcAft>
                <a:spcPts val="2400"/>
              </a:spcAft>
              <a:defRPr sz="2000">
                <a:solidFill>
                  <a:srgbClr val="212529"/>
                </a:solidFill>
                <a:latin typeface="Arial"/>
              </a:defRPr>
            </a:pPr>
            <a:r>
              <a:t>• Language Barriers: The pipeline operates entirely in English, creating an accessibility bottleneck for local traders who speak Twi or Hausa.</a:t>
            </a:r>
          </a:p>
          <a:p>
            <a:pPr>
              <a:spcAft>
                <a:spcPts val="2400"/>
              </a:spcAft>
              <a:defRPr sz="2000">
                <a:solidFill>
                  <a:srgbClr val="212529"/>
                </a:solidFill>
                <a:latin typeface="Arial"/>
              </a:defRPr>
            </a:pPr>
            <a:r>
              <a:t>• Professional Advice Disclaimer: The system acts as a document text search tool; it does not replace a certified tax professional.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4552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0B1D3A"/>
                </a:solidFill>
                <a:latin typeface="Arial"/>
              </a:defRPr>
            </a:pPr>
            <a:r>
              <a:t>Summary &amp; Future Outlook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645920"/>
            <a:ext cx="10817352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400"/>
              </a:spcAft>
              <a:defRPr sz="2000">
                <a:solidFill>
                  <a:srgbClr val="212529"/>
                </a:solidFill>
                <a:latin typeface="Arial"/>
              </a:defRPr>
            </a:pPr>
            <a:r>
              <a:t>• Successful Objectives: Built a functional, secure, end-to-end RAG application that provides transparent source citations.</a:t>
            </a:r>
          </a:p>
          <a:p>
            <a:pPr>
              <a:spcAft>
                <a:spcPts val="2400"/>
              </a:spcAft>
              <a:defRPr sz="2000">
                <a:solidFill>
                  <a:srgbClr val="212529"/>
                </a:solidFill>
                <a:latin typeface="Arial"/>
              </a:defRPr>
            </a:pPr>
            <a:r>
              <a:t>• Future Work: Upgrade to hierarchical parent-child chunking to preserve split paragraphs, and integrate translation APIs to support queries in local Ghanaian languages.</a:t>
            </a:r>
          </a:p>
          <a:p>
            <a:pPr>
              <a:spcAft>
                <a:spcPts val="2400"/>
              </a:spcAft>
              <a:defRPr sz="2000">
                <a:solidFill>
                  <a:srgbClr val="212529"/>
                </a:solidFill>
                <a:latin typeface="Arial"/>
              </a:defRPr>
            </a:pPr>
            <a:r>
              <a:t>• Thank You! Questions or feedback? (Enquiries: programsupport@thriveafrica.co)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